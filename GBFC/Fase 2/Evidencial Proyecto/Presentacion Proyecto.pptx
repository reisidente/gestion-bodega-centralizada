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3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71" r:id="rId9"/>
    <p:sldId id="272" r:id="rId10"/>
    <p:sldId id="263" r:id="rId11"/>
    <p:sldId id="269" r:id="rId12"/>
    <p:sldId id="270" r:id="rId13"/>
    <p:sldId id="267" r:id="rId14"/>
    <p:sldId id="265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777746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05513610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532384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4436958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70084488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278220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s-C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580172259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044648183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18274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854508576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16426124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06-07-2025</a:t>
            </a:fld>
            <a:endParaRPr lang="es-C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628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5" r:id="rId2"/>
    <p:sldLayoutId id="2147483906" r:id="rId3"/>
    <p:sldLayoutId id="2147483907" r:id="rId4"/>
    <p:sldLayoutId id="2147483908" r:id="rId5"/>
    <p:sldLayoutId id="2147483909" r:id="rId6"/>
    <p:sldLayoutId id="2147483910" r:id="rId7"/>
    <p:sldLayoutId id="2147483911" r:id="rId8"/>
    <p:sldLayoutId id="2147483912" r:id="rId9"/>
    <p:sldLayoutId id="2147483913" r:id="rId10"/>
    <p:sldLayoutId id="2147483914" r:id="rId11"/>
  </p:sldLayoutIdLst>
  <p:transition spd="slow">
    <p:wipe/>
  </p:transition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521059"/>
            <a:ext cx="1219199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“Gestión Bodega de Fármacos Centralizada”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F5413E2-F7DE-E254-74AD-D24718DB4C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13BBAA6F-DABF-5827-7F1B-D9EEFB8DE310}"/>
              </a:ext>
            </a:extLst>
          </p:cNvPr>
          <p:cNvSpPr txBox="1"/>
          <p:nvPr/>
        </p:nvSpPr>
        <p:spPr>
          <a:xfrm>
            <a:off x="4085617" y="3197115"/>
            <a:ext cx="61302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Nombre: BASTIÁN ALEJANDRO OLIVARES MELGAREJO</a:t>
            </a:r>
          </a:p>
          <a:p>
            <a:r>
              <a:rPr lang="es-CL" dirty="0"/>
              <a:t>Cargo: Gerente Proyecto.</a:t>
            </a:r>
          </a:p>
          <a:p>
            <a:r>
              <a:rPr lang="es-CL" dirty="0"/>
              <a:t>Funcionalidades: Full </a:t>
            </a:r>
            <a:r>
              <a:rPr lang="es-CL" dirty="0" err="1"/>
              <a:t>Stack</a:t>
            </a:r>
            <a:r>
              <a:rPr lang="es-CL" dirty="0"/>
              <a:t>.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8466E5B0-E53A-2A0C-24EF-34E3DDCCDE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CL" i="1" dirty="0"/>
              <a:t>La gestión ineficiente de la bodega de fármacos central, causando una falta de trazabilidad y control, procesos lentos y propensos a errores en los despachos de los fármacos.</a:t>
            </a:r>
            <a:endParaRPr lang="es-CL" sz="1800" i="1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40070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lvl="0" algn="just"/>
            <a:r>
              <a:rPr lang="es-MX" i="1" dirty="0"/>
              <a:t>Desarrollar una plataforma web que mejore el control del inventario de los fármacos, optimice los despachos y minimice las perdidas por vencimiento.</a:t>
            </a: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6B5FFE9C-4464-BA3A-0105-A4CFA3E0F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-3" y="101266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325297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4" y="167876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i="1" dirty="0"/>
              <a:t>Desarrollar una plataforma de gestión de bodega de fármacos centralizada para optimizar el control de stock y vencimientos.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1" y="3927178"/>
            <a:ext cx="10962967" cy="1933414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i="1" dirty="0"/>
              <a:t>-Reducir en un 80% las pérdidas por vencimiento de fármacos</a:t>
            </a:r>
            <a:r>
              <a:rPr lang="es-CL" dirty="0"/>
              <a:t> </a:t>
            </a:r>
            <a:r>
              <a:rPr lang="es-CL" i="1" dirty="0"/>
              <a:t>mediante alertas y monitoreo de stock en 2 meses.</a:t>
            </a:r>
            <a:endParaRPr lang="es-CL" dirty="0"/>
          </a:p>
          <a:p>
            <a:r>
              <a:rPr lang="es-CL" i="1" dirty="0"/>
              <a:t>-Asegurar que el 95% de las notificaciones de vencimiento sean enviadas con al menos 15 días de anticipación en 1 mes.</a:t>
            </a:r>
            <a:endParaRPr lang="es-CL" dirty="0"/>
          </a:p>
          <a:p>
            <a:r>
              <a:rPr lang="es-CL" i="1" dirty="0"/>
              <a:t>-Asegurar que el 100% de los fármacos almacenados tengan un registro de lote y fecha de vencimiento actualizado en 3 meses.</a:t>
            </a:r>
            <a:endParaRPr lang="es-CL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6C4A3731-5C73-BED5-A36B-63C1C8B110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77217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Alcances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A958C387-4EE0-7D8E-B45D-A1077698A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9580839-4104-2B8A-E713-728AD92945F0}"/>
              </a:ext>
            </a:extLst>
          </p:cNvPr>
          <p:cNvSpPr txBox="1"/>
          <p:nvPr/>
        </p:nvSpPr>
        <p:spPr>
          <a:xfrm>
            <a:off x="2042808" y="1418506"/>
            <a:ext cx="925596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Alcance: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Gestión de inventario.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Módulo de órdenes.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Sistema de alertas automáticas.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Gestión de usuarios.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dirty="0"/>
              <a:t>Generación de reportes.</a:t>
            </a:r>
            <a:endParaRPr lang="es-MX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744E8D1-C82C-7DBB-D89B-7B6D6BD5778B}"/>
              </a:ext>
            </a:extLst>
          </p:cNvPr>
          <p:cNvSpPr txBox="1"/>
          <p:nvPr/>
        </p:nvSpPr>
        <p:spPr>
          <a:xfrm>
            <a:off x="2042808" y="3172832"/>
            <a:ext cx="92559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/>
              <a:t>Limitaciones: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No contempla funcionalidad offline.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No gestiona ubicación del fármaco en la bodega.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No gestiona inventario de bodegas dependientes.</a:t>
            </a: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758027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FBB90EF7-BAE3-F441-D347-64A60EB6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731B7ADE-5125-0EEB-1CB0-5BEAF452ADBE}"/>
              </a:ext>
            </a:extLst>
          </p:cNvPr>
          <p:cNvSpPr txBox="1"/>
          <p:nvPr/>
        </p:nvSpPr>
        <p:spPr>
          <a:xfrm>
            <a:off x="1925215" y="1642186"/>
            <a:ext cx="834156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El proyecto se desarrollo con la metodología cascada, la cual se dividió en 5 fases secuenciales.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Las fases del proyecto son: Análisis de requerimientos, diseño del sistema, desarrollo, pruebas y despliegue.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CL" sz="2400" dirty="0"/>
              <a:t>La metodología permitió avanzar de forma estructurada y garantizara que cada fase se valide antes de pasar a la siguiente.</a:t>
            </a:r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72778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para el desarrollo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DF67ACC4-3F6E-170F-C392-546FAEDB8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6" name="Tabla 15">
            <a:extLst>
              <a:ext uri="{FF2B5EF4-FFF2-40B4-BE49-F238E27FC236}">
                <a16:creationId xmlns:a16="http://schemas.microsoft.com/office/drawing/2014/main" id="{2CCE65E3-DF04-39EE-066E-2BA7F440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046476"/>
              </p:ext>
            </p:extLst>
          </p:nvPr>
        </p:nvGraphicFramePr>
        <p:xfrm>
          <a:off x="1194319" y="1404358"/>
          <a:ext cx="9890448" cy="3873417"/>
        </p:xfrm>
        <a:graphic>
          <a:graphicData uri="http://schemas.openxmlformats.org/drawingml/2006/table">
            <a:tbl>
              <a:tblPr/>
              <a:tblGrid>
                <a:gridCol w="4898571">
                  <a:extLst>
                    <a:ext uri="{9D8B030D-6E8A-4147-A177-3AD203B41FA5}">
                      <a16:colId xmlns:a16="http://schemas.microsoft.com/office/drawing/2014/main" val="2294606472"/>
                    </a:ext>
                  </a:extLst>
                </a:gridCol>
                <a:gridCol w="1663959">
                  <a:extLst>
                    <a:ext uri="{9D8B030D-6E8A-4147-A177-3AD203B41FA5}">
                      <a16:colId xmlns:a16="http://schemas.microsoft.com/office/drawing/2014/main" val="1257953276"/>
                    </a:ext>
                  </a:extLst>
                </a:gridCol>
                <a:gridCol w="1663959">
                  <a:extLst>
                    <a:ext uri="{9D8B030D-6E8A-4147-A177-3AD203B41FA5}">
                      <a16:colId xmlns:a16="http://schemas.microsoft.com/office/drawing/2014/main" val="3749531499"/>
                    </a:ext>
                  </a:extLst>
                </a:gridCol>
                <a:gridCol w="1663959">
                  <a:extLst>
                    <a:ext uri="{9D8B030D-6E8A-4147-A177-3AD203B41FA5}">
                      <a16:colId xmlns:a16="http://schemas.microsoft.com/office/drawing/2014/main" val="1838158144"/>
                    </a:ext>
                  </a:extLst>
                </a:gridCol>
              </a:tblGrid>
              <a:tr h="233339"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Nombre de tarea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Duración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Comienzo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Fin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6330514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GBFC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98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7427732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Fase 1: Análisis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4568185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Levantamiento de requerimientos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8985425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Definición de módulos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07-04-25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09-04-25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506791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Creación de casos de usos</a:t>
                      </a:r>
                      <a:endParaRPr lang="es-MX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11-04-25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949513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Análisis de requerimientos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 día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1945210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Definición de requisitos completa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0490233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Fase 2: Diseño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15-04-25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650012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 arquitectura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15-04-25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17-04-25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423487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 base de datos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18-04-25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22-04-25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336058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Definición de reglas del negocio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23-04-25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6809130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 interfaces de usuario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25-04-25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06509"/>
                  </a:ext>
                </a:extLst>
              </a:tr>
              <a:tr h="280006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   Diseño del sistema finalizado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30-04-25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</a:t>
                      </a:r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30-04-25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85065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A03257-87FB-7E4C-959B-23B4CF936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727788"/>
            <a:ext cx="9905998" cy="575800"/>
          </a:xfrm>
        </p:spPr>
        <p:txBody>
          <a:bodyPr>
            <a:normAutofit/>
          </a:bodyPr>
          <a:lstStyle/>
          <a:p>
            <a:pPr algn="ctr"/>
            <a:r>
              <a:rPr lang="es-MX" sz="3600" dirty="0">
                <a:solidFill>
                  <a:schemeClr val="tx1"/>
                </a:solidFill>
                <a:latin typeface="+mn-lt"/>
              </a:rPr>
              <a:t>Cronograma para el desarrollo del proyecto</a:t>
            </a:r>
            <a:endParaRPr lang="es-CL" sz="3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24E525E6-D23A-CDDE-8C32-F900A7A5A0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6" name="Marcador de contenido 5">
            <a:extLst>
              <a:ext uri="{FF2B5EF4-FFF2-40B4-BE49-F238E27FC236}">
                <a16:creationId xmlns:a16="http://schemas.microsoft.com/office/drawing/2014/main" id="{DCEC1C76-81C3-527D-D5BA-5D656430CE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28784035"/>
              </p:ext>
            </p:extLst>
          </p:nvPr>
        </p:nvGraphicFramePr>
        <p:xfrm>
          <a:off x="1143001" y="1417634"/>
          <a:ext cx="10016410" cy="4647267"/>
        </p:xfrm>
        <a:graphic>
          <a:graphicData uri="http://schemas.openxmlformats.org/drawingml/2006/table">
            <a:tbl>
              <a:tblPr/>
              <a:tblGrid>
                <a:gridCol w="4960960">
                  <a:extLst>
                    <a:ext uri="{9D8B030D-6E8A-4147-A177-3AD203B41FA5}">
                      <a16:colId xmlns:a16="http://schemas.microsoft.com/office/drawing/2014/main" val="3520358524"/>
                    </a:ext>
                  </a:extLst>
                </a:gridCol>
                <a:gridCol w="1685150">
                  <a:extLst>
                    <a:ext uri="{9D8B030D-6E8A-4147-A177-3AD203B41FA5}">
                      <a16:colId xmlns:a16="http://schemas.microsoft.com/office/drawing/2014/main" val="3241641610"/>
                    </a:ext>
                  </a:extLst>
                </a:gridCol>
                <a:gridCol w="1685150">
                  <a:extLst>
                    <a:ext uri="{9D8B030D-6E8A-4147-A177-3AD203B41FA5}">
                      <a16:colId xmlns:a16="http://schemas.microsoft.com/office/drawing/2014/main" val="127340610"/>
                    </a:ext>
                  </a:extLst>
                </a:gridCol>
                <a:gridCol w="1685150">
                  <a:extLst>
                    <a:ext uri="{9D8B030D-6E8A-4147-A177-3AD203B41FA5}">
                      <a16:colId xmlns:a16="http://schemas.microsoft.com/office/drawing/2014/main" val="3963453634"/>
                    </a:ext>
                  </a:extLst>
                </a:gridCol>
              </a:tblGrid>
              <a:tr h="160251"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Nombre de tarea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Duración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Comienzo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8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Fin</a:t>
                      </a:r>
                      <a:endParaRPr lang="es-CL" sz="8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3027888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Fase 3: Desarrollo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01-05-25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0141273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tablas y relaciones en supabase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01-05-25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09-05-25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577654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Configuración de autenticación y políticas RLS</a:t>
                      </a:r>
                      <a:endParaRPr lang="es-MX" sz="10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12-05-25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16-05-25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6045124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Implementación de lógica de stock y lotes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19-05-25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23-05-25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390448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Implementación de lógica de solicitudes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26-05-25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30-05-25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6725105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función automática para alertas/notificaciones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02-06-25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3009970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Registro y monitoreo de acciones usando funciones y triggers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09-06-25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13-06-25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0889629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Finalización Backend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8002920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Login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16-06-25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18-06-25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2541432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 formulario de ingreso de fármacos.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19-06-25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24-06-25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6040328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Implementación de reportes de stock y vencimientos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25-06-25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01-07-25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5901724"/>
                  </a:ext>
                </a:extLst>
              </a:tr>
              <a:tr h="368576">
                <a:tc>
                  <a:txBody>
                    <a:bodyPr/>
                    <a:lstStyle/>
                    <a:p>
                      <a:r>
                        <a:rPr lang="es-MX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del módulo de gestión de usuarios</a:t>
                      </a:r>
                      <a:endParaRPr lang="es-MX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02-07-25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08-07-25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2130402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Conexión con supabase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09-07-25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11-07-25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54261193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Validación de formularios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18-07-25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8028759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Manejo de errores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21-07-25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4169556"/>
                  </a:ext>
                </a:extLst>
              </a:tr>
              <a:tr h="192301"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Finalización Frontend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0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24-07-25</a:t>
                      </a:r>
                      <a:endParaRPr lang="es-CL" sz="10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936" marR="6936" marT="6936" marB="6936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4465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020884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207B5D-C74F-EB71-3893-153AAA71D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727788"/>
            <a:ext cx="9905998" cy="603792"/>
          </a:xfrm>
        </p:spPr>
        <p:txBody>
          <a:bodyPr>
            <a:normAutofit/>
          </a:bodyPr>
          <a:lstStyle/>
          <a:p>
            <a:pPr algn="ctr"/>
            <a:r>
              <a:rPr lang="es-MX" sz="3600" dirty="0">
                <a:solidFill>
                  <a:schemeClr val="tx1"/>
                </a:solidFill>
                <a:latin typeface="+mn-lt"/>
              </a:rPr>
              <a:t>Cronograma para el desarrollo del proyecto</a:t>
            </a:r>
            <a:endParaRPr lang="es-CL" sz="360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4A6575A1-4689-BEEF-59A2-7F73A15182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7" name="Marcador de contenido 6">
            <a:extLst>
              <a:ext uri="{FF2B5EF4-FFF2-40B4-BE49-F238E27FC236}">
                <a16:creationId xmlns:a16="http://schemas.microsoft.com/office/drawing/2014/main" id="{E7DF113C-B555-7586-F879-C16D3645F5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9321870"/>
              </p:ext>
            </p:extLst>
          </p:nvPr>
        </p:nvGraphicFramePr>
        <p:xfrm>
          <a:off x="1143001" y="1343608"/>
          <a:ext cx="10021074" cy="3933479"/>
        </p:xfrm>
        <a:graphic>
          <a:graphicData uri="http://schemas.openxmlformats.org/drawingml/2006/table">
            <a:tbl>
              <a:tblPr/>
              <a:tblGrid>
                <a:gridCol w="4963266">
                  <a:extLst>
                    <a:ext uri="{9D8B030D-6E8A-4147-A177-3AD203B41FA5}">
                      <a16:colId xmlns:a16="http://schemas.microsoft.com/office/drawing/2014/main" val="1301118426"/>
                    </a:ext>
                  </a:extLst>
                </a:gridCol>
                <a:gridCol w="1685936">
                  <a:extLst>
                    <a:ext uri="{9D8B030D-6E8A-4147-A177-3AD203B41FA5}">
                      <a16:colId xmlns:a16="http://schemas.microsoft.com/office/drawing/2014/main" val="3582283987"/>
                    </a:ext>
                  </a:extLst>
                </a:gridCol>
                <a:gridCol w="1685936">
                  <a:extLst>
                    <a:ext uri="{9D8B030D-6E8A-4147-A177-3AD203B41FA5}">
                      <a16:colId xmlns:a16="http://schemas.microsoft.com/office/drawing/2014/main" val="1764773614"/>
                    </a:ext>
                  </a:extLst>
                </a:gridCol>
                <a:gridCol w="1685936">
                  <a:extLst>
                    <a:ext uri="{9D8B030D-6E8A-4147-A177-3AD203B41FA5}">
                      <a16:colId xmlns:a16="http://schemas.microsoft.com/office/drawing/2014/main" val="408851938"/>
                    </a:ext>
                  </a:extLst>
                </a:gridCol>
              </a:tblGrid>
              <a:tr h="278970"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Nombre de tarea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Duración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Comienzo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900">
                          <a:solidFill>
                            <a:srgbClr val="363636"/>
                          </a:solidFill>
                          <a:effectLst/>
                          <a:latin typeface="Segoe UI" panose="020B0502040204020203" pitchFamily="34" charset="0"/>
                        </a:rPr>
                        <a:t>Fin</a:t>
                      </a:r>
                      <a:endParaRPr lang="es-CL" sz="900"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3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328149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Fase 4: Pruebas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25-07-25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234044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Creación plan de pruebas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25-07-25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29-07-25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535487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Pruebas unitarias en cada módulo.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30-07-25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01-08-25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114931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Pruebas de integración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04-08-25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06-08-25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5940532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Corrección de errores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07-08-25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 11-08-25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510311"/>
                  </a:ext>
                </a:extLst>
              </a:tr>
              <a:tr h="641633">
                <a:tc>
                  <a:txBody>
                    <a:bodyPr/>
                    <a:lstStyle/>
                    <a:p>
                      <a:r>
                        <a:rPr lang="es-MX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Revisión de cumplimiento de requerimientos funcionales.</a:t>
                      </a:r>
                      <a:endParaRPr lang="es-MX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mar 12-08-25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2676440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Pruebas finalizadas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mié 13-08-25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8260619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Fase 5: Despliegue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14-08-25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b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3325999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Despliegue del sistema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jue 14-08-25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4451414"/>
                  </a:ext>
                </a:extLst>
              </a:tr>
              <a:tr h="334764"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  Entrega Final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 días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L" sz="1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vie 15-08-25</a:t>
                      </a:r>
                      <a:endParaRPr lang="es-CL" sz="1100" dirty="0"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7620" anchor="ctr">
                    <a:lnL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1BB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0420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990781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72778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2">
            <a:extLst>
              <a:ext uri="{FF2B5EF4-FFF2-40B4-BE49-F238E27FC236}">
                <a16:creationId xmlns:a16="http://schemas.microsoft.com/office/drawing/2014/main" id="{C987A4B8-2DD3-EBDD-F54C-03D6852944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12EE2C3-94E9-1490-EE8C-C25EEED682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262" y="1392781"/>
            <a:ext cx="6119476" cy="4695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727788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005D655F-0304-CD2C-0213-207E98C67B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49E18669-C013-DA3E-845B-62FB5384FD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919" y="1404358"/>
            <a:ext cx="11457992" cy="4512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>
            <a:extLst>
              <a:ext uri="{FF2B5EF4-FFF2-40B4-BE49-F238E27FC236}">
                <a16:creationId xmlns:a16="http://schemas.microsoft.com/office/drawing/2014/main" id="{940F014F-59F1-CD13-FB13-78998AB87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E858D9B-C46D-469E-83BB-731DB170E6C9}"/>
              </a:ext>
            </a:extLst>
          </p:cNvPr>
          <p:cNvSpPr txBox="1"/>
          <p:nvPr/>
        </p:nvSpPr>
        <p:spPr>
          <a:xfrm>
            <a:off x="1472680" y="2392896"/>
            <a:ext cx="924663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Vite.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React</a:t>
            </a:r>
            <a:r>
              <a:rPr lang="es-MX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 err="1"/>
              <a:t>Supabase</a:t>
            </a:r>
            <a:r>
              <a:rPr lang="es-MX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PostgreSQL.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MX" dirty="0"/>
              <a:t>Oracle Datamodeler.</a:t>
            </a:r>
          </a:p>
        </p:txBody>
      </p:sp>
      <p:pic>
        <p:nvPicPr>
          <p:cNvPr id="1028" name="Picture 4" descr="Vite.js SVG and transparent PNG icons | TechIcons">
            <a:extLst>
              <a:ext uri="{FF2B5EF4-FFF2-40B4-BE49-F238E27FC236}">
                <a16:creationId xmlns:a16="http://schemas.microsoft.com/office/drawing/2014/main" id="{D0F8F0F0-AEB3-8513-8106-4878A43AE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4398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4570381-5CEE-3D91-DBE6-F2BC22888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8006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upabase Logo Icons - Transparent, PNG, SVG Files">
            <a:extLst>
              <a:ext uri="{FF2B5EF4-FFF2-40B4-BE49-F238E27FC236}">
                <a16:creationId xmlns:a16="http://schemas.microsoft.com/office/drawing/2014/main" id="{44C1D5AC-3272-B240-0C78-3844BC9DE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1614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ogo PostgreSQL PNG transparente - StickPNG">
            <a:extLst>
              <a:ext uri="{FF2B5EF4-FFF2-40B4-BE49-F238E27FC236}">
                <a16:creationId xmlns:a16="http://schemas.microsoft.com/office/drawing/2014/main" id="{ABB351A3-1FB1-4F04-F739-9E3A9DD97B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5222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Install osddm on Linux | Snap Store">
            <a:extLst>
              <a:ext uri="{FF2B5EF4-FFF2-40B4-BE49-F238E27FC236}">
                <a16:creationId xmlns:a16="http://schemas.microsoft.com/office/drawing/2014/main" id="{4526256E-FA7C-6556-4CE0-935926E47D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830" y="2217832"/>
            <a:ext cx="1071562" cy="1071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727788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4821365B-F5BE-388A-4F2C-DC05BF2D2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2E0C4D0B-0979-E8CB-953B-B37CC57BBD14}"/>
              </a:ext>
            </a:extLst>
          </p:cNvPr>
          <p:cNvSpPr txBox="1"/>
          <p:nvPr/>
        </p:nvSpPr>
        <p:spPr>
          <a:xfrm>
            <a:off x="2261118" y="1497229"/>
            <a:ext cx="76697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Implementación de una plataforma web.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Mejora en la trazabilidad de los fármacos.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Minimización de pérdidas por vencimientos.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Gestión de usuarios mediante roles.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L" sz="2800" dirty="0"/>
              <a:t>Generación de reportes en formato pdf.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59863626-8C80-B6B8-DCD3-477AAA2D5A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34420816"/>
      </p:ext>
    </p:extLst>
  </p:cSld>
  <p:clrMapOvr>
    <a:masterClrMapping/>
  </p:clrMapOvr>
  <p:transition spd="slow">
    <p:wip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B33B6EEB-250F-37EA-9F6C-A031124FCE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1952" y="111968"/>
            <a:ext cx="2603959" cy="61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Retrospección">
  <a:themeElements>
    <a:clrScheme name="Retrospección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ció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ción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642</TotalTime>
  <Words>844</Words>
  <Application>Microsoft Office PowerPoint</Application>
  <PresentationFormat>Panorámica</PresentationFormat>
  <Paragraphs>221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Segoe UI</vt:lpstr>
      <vt:lpstr>Retrospección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Cronograma para el desarrollo del proyecto</vt:lpstr>
      <vt:lpstr>Cronograma para el desarrollo del proyecto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el waton bb</cp:lastModifiedBy>
  <cp:revision>8</cp:revision>
  <dcterms:created xsi:type="dcterms:W3CDTF">2023-10-28T21:12:11Z</dcterms:created>
  <dcterms:modified xsi:type="dcterms:W3CDTF">2025-07-07T03:19:55Z</dcterms:modified>
</cp:coreProperties>
</file>